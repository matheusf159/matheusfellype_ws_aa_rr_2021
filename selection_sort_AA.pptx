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Nunito"/>
      <p:regular r:id="rId10"/>
      <p:bold r:id="rId11"/>
      <p:italic r:id="rId12"/>
      <p:boldItalic r:id="rId13"/>
    </p:embeddedFont>
    <p:embeddedFont>
      <p:font typeface="Maven Pro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Nunito-bold.fntdata"/><Relationship Id="rId10" Type="http://schemas.openxmlformats.org/officeDocument/2006/relationships/font" Target="fonts/Nunito-regular.fntdata"/><Relationship Id="rId13" Type="http://schemas.openxmlformats.org/officeDocument/2006/relationships/font" Target="fonts/Nunito-boldItalic.fntdata"/><Relationship Id="rId12" Type="http://schemas.openxmlformats.org/officeDocument/2006/relationships/font" Target="fonts/Nuni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avenPro-bold.fntdata"/><Relationship Id="rId14" Type="http://schemas.openxmlformats.org/officeDocument/2006/relationships/font" Target="fonts/MavenPr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ebb3bcee23_0_2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ebb3bcee23_0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bb3bcef5c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ebb3bcef5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ebb3bcef5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ebb3bcef5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Selection Sort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Aluno: Matheus Fellype de Moura Silva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Matrícula: 2017027110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Selection Sort</a:t>
            </a:r>
            <a:endParaRPr/>
          </a:p>
        </p:txBody>
      </p:sp>
      <p:sp>
        <p:nvSpPr>
          <p:cNvPr id="284" name="Google Shape;284;p14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Selection sort é um algoritmo de ordenação baseado em se passar sempre o menor valor do vetor para a primeira posição, depois o de segundo menor valor para a segunda posição, e assim feito sucessivamente até o término do vetor.</a:t>
            </a:r>
            <a:endParaRPr/>
          </a:p>
        </p:txBody>
      </p:sp>
      <p:pic>
        <p:nvPicPr>
          <p:cNvPr id="285" name="Google Shape;28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8975" y="1187100"/>
            <a:ext cx="952500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algoritmo</a:t>
            </a:r>
            <a:endParaRPr/>
          </a:p>
        </p:txBody>
      </p:sp>
      <p:pic>
        <p:nvPicPr>
          <p:cNvPr id="291" name="Google Shape;29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3788" y="1463175"/>
            <a:ext cx="3638426" cy="324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6"/>
          <p:cNvSpPr txBox="1"/>
          <p:nvPr/>
        </p:nvSpPr>
        <p:spPr>
          <a:xfrm>
            <a:off x="713250" y="361525"/>
            <a:ext cx="9144000" cy="47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pt-BR"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n-2           n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-1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   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 </a:t>
            </a:r>
            <a:endParaRPr baseline="-25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900">
                <a:latin typeface="Nunito"/>
                <a:ea typeface="Nunito"/>
                <a:cs typeface="Nunito"/>
                <a:sym typeface="Nunito"/>
              </a:rPr>
              <a:t>∑</a:t>
            </a:r>
            <a:r>
              <a:rPr lang="pt-BR" sz="1500">
                <a:latin typeface="Nunito"/>
                <a:ea typeface="Nunito"/>
                <a:cs typeface="Nunito"/>
                <a:sym typeface="Nunito"/>
              </a:rPr>
              <a:t>1</a:t>
            </a:r>
            <a:r>
              <a:rPr lang="pt-BR" sz="1800">
                <a:latin typeface="Nunito"/>
                <a:ea typeface="Nunito"/>
                <a:cs typeface="Nunito"/>
                <a:sym typeface="Nunito"/>
              </a:rPr>
              <a:t>((</a:t>
            </a:r>
            <a:r>
              <a:rPr lang="pt-BR" sz="1800">
                <a:latin typeface="Nunito"/>
                <a:ea typeface="Nunito"/>
                <a:cs typeface="Nunito"/>
                <a:sym typeface="Nunito"/>
              </a:rPr>
              <a:t>∑</a:t>
            </a:r>
            <a:r>
              <a:rPr lang="pt-BR" sz="1500">
                <a:latin typeface="Nunito"/>
                <a:ea typeface="Nunito"/>
                <a:cs typeface="Nunito"/>
                <a:sym typeface="Nunito"/>
              </a:rPr>
              <a:t>1</a:t>
            </a:r>
            <a:r>
              <a:rPr lang="pt-BR" sz="1800">
                <a:latin typeface="Nunito"/>
                <a:ea typeface="Nunito"/>
                <a:cs typeface="Nunito"/>
                <a:sym typeface="Nunito"/>
              </a:rPr>
              <a:t>)+1)</a:t>
            </a:r>
            <a:endParaRPr sz="18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30000" lang="pt-BR" sz="1200">
                <a:latin typeface="Nunito"/>
                <a:ea typeface="Nunito"/>
                <a:cs typeface="Nunito"/>
                <a:sym typeface="Nunito"/>
              </a:rPr>
              <a:t>   i=0           j=i+1</a:t>
            </a:r>
            <a:endParaRPr baseline="30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  n-2               </a:t>
            </a:r>
            <a:endParaRPr baseline="-25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900">
                <a:latin typeface="Nunito"/>
                <a:ea typeface="Nunito"/>
                <a:cs typeface="Nunito"/>
                <a:sym typeface="Nunito"/>
              </a:rPr>
              <a:t>∑</a:t>
            </a:r>
            <a:r>
              <a:rPr lang="pt-BR">
                <a:latin typeface="Nunito"/>
                <a:ea typeface="Nunito"/>
                <a:cs typeface="Nunito"/>
                <a:sym typeface="Nunito"/>
              </a:rPr>
              <a:t>1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((n-1-(i+1)+1))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30000" lang="pt-BR" sz="1200">
                <a:latin typeface="Nunito"/>
                <a:ea typeface="Nunito"/>
                <a:cs typeface="Nunito"/>
                <a:sym typeface="Nunito"/>
              </a:rPr>
              <a:t>   i=0</a:t>
            </a:r>
            <a:r>
              <a:rPr baseline="30000" lang="pt-BR">
                <a:latin typeface="Nunito"/>
                <a:ea typeface="Nunito"/>
                <a:cs typeface="Nunito"/>
                <a:sym typeface="Nunito"/>
              </a:rPr>
              <a:t>           </a:t>
            </a:r>
            <a:endParaRPr baseline="300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pt-BR">
                <a:latin typeface="Nunito"/>
                <a:ea typeface="Nunito"/>
                <a:cs typeface="Nunito"/>
                <a:sym typeface="Nunito"/>
              </a:rPr>
              <a:t>   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n-2                                                                       n-2             n-2</a:t>
            </a:r>
            <a:endParaRPr baseline="-25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900">
                <a:latin typeface="Nunito"/>
                <a:ea typeface="Nunito"/>
                <a:cs typeface="Nunito"/>
                <a:sym typeface="Nunito"/>
              </a:rPr>
              <a:t>∑</a:t>
            </a:r>
            <a:r>
              <a:rPr lang="pt-BR" sz="1500">
                <a:latin typeface="Nunito"/>
                <a:ea typeface="Nunito"/>
                <a:cs typeface="Nunito"/>
                <a:sym typeface="Nunito"/>
              </a:rPr>
              <a:t>1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(n-i-1)+1</a:t>
            </a:r>
            <a:r>
              <a:rPr lang="pt-BR" sz="1800">
                <a:latin typeface="Nunito"/>
                <a:ea typeface="Nunito"/>
                <a:cs typeface="Nunito"/>
                <a:sym typeface="Nunito"/>
              </a:rPr>
              <a:t> = </a:t>
            </a:r>
            <a:r>
              <a:rPr lang="pt-BR" sz="12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900">
                <a:latin typeface="Nunito"/>
                <a:ea typeface="Nunito"/>
                <a:cs typeface="Nunito"/>
                <a:sym typeface="Nunito"/>
              </a:rPr>
              <a:t>∑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n </a:t>
            </a:r>
            <a:r>
              <a:rPr lang="pt-BR" sz="1800">
                <a:latin typeface="Nunito"/>
                <a:ea typeface="Nunito"/>
                <a:cs typeface="Nunito"/>
                <a:sym typeface="Nunito"/>
              </a:rPr>
              <a:t>- ∑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i</a:t>
            </a:r>
            <a:endParaRPr sz="20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30000" lang="pt-BR" sz="1200">
                <a:latin typeface="Nunito"/>
                <a:ea typeface="Nunito"/>
                <a:cs typeface="Nunito"/>
                <a:sym typeface="Nunito"/>
              </a:rPr>
              <a:t>   i=0             i=0                                                     i=0              i=0</a:t>
            </a:r>
            <a:endParaRPr baseline="30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pt-BR">
                <a:latin typeface="Nunito"/>
                <a:ea typeface="Nunito"/>
                <a:cs typeface="Nunito"/>
                <a:sym typeface="Nunito"/>
              </a:rPr>
              <a:t>   </a:t>
            </a: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                                                    n-2      </a:t>
            </a:r>
            <a:endParaRPr baseline="-25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800">
                <a:latin typeface="Nunito"/>
                <a:ea typeface="Nunito"/>
                <a:cs typeface="Nunito"/>
                <a:sym typeface="Nunito"/>
              </a:rPr>
              <a:t>n(n-2-0+1)</a:t>
            </a:r>
            <a:r>
              <a:rPr lang="pt-BR"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- ∑</a:t>
            </a:r>
            <a:r>
              <a:rPr lang="pt-BR">
                <a:latin typeface="Nunito"/>
                <a:ea typeface="Nunito"/>
                <a:cs typeface="Nunito"/>
                <a:sym typeface="Nunito"/>
              </a:rPr>
              <a:t>i 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30000" lang="pt-BR" sz="1100">
                <a:latin typeface="Nunito"/>
                <a:ea typeface="Nunito"/>
                <a:cs typeface="Nunito"/>
                <a:sym typeface="Nunito"/>
              </a:rPr>
              <a:t>                                                            i=0</a:t>
            </a:r>
            <a:endParaRPr baseline="30000"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                            n-2      </a:t>
            </a:r>
            <a:endParaRPr baseline="-25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n</a:t>
            </a:r>
            <a:r>
              <a:rPr baseline="30000" lang="pt-BR" sz="1700">
                <a:latin typeface="Nunito"/>
                <a:ea typeface="Nunito"/>
                <a:cs typeface="Nunito"/>
                <a:sym typeface="Nunito"/>
              </a:rPr>
              <a:t>2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 - n</a:t>
            </a:r>
            <a:r>
              <a:rPr lang="pt-BR"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- ∑</a:t>
            </a:r>
            <a:r>
              <a:rPr lang="pt-BR">
                <a:latin typeface="Nunito"/>
                <a:ea typeface="Nunito"/>
                <a:cs typeface="Nunito"/>
                <a:sym typeface="Nunito"/>
              </a:rPr>
              <a:t>i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30000" lang="pt-BR" sz="1100">
                <a:latin typeface="Nunito"/>
                <a:ea typeface="Nunito"/>
                <a:cs typeface="Nunito"/>
                <a:sym typeface="Nunito"/>
              </a:rPr>
              <a:t>                               </a:t>
            </a:r>
            <a:r>
              <a:rPr baseline="30000" lang="pt-BR" sz="1200">
                <a:latin typeface="Nunito"/>
                <a:ea typeface="Nunito"/>
                <a:cs typeface="Nunito"/>
                <a:sym typeface="Nunito"/>
              </a:rPr>
              <a:t> i=0</a:t>
            </a:r>
            <a:endParaRPr baseline="30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pt-BR" sz="1200">
                <a:latin typeface="Nunito"/>
                <a:ea typeface="Nunito"/>
                <a:cs typeface="Nunito"/>
                <a:sym typeface="Nunito"/>
              </a:rPr>
              <a:t>                                 </a:t>
            </a:r>
            <a:endParaRPr baseline="-25000" sz="12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latin typeface="Nunito"/>
                <a:ea typeface="Nunito"/>
                <a:cs typeface="Nunito"/>
                <a:sym typeface="Nunito"/>
              </a:rPr>
              <a:t>T(n) = 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n</a:t>
            </a:r>
            <a:r>
              <a:rPr baseline="30000" lang="pt-BR" sz="1700">
                <a:latin typeface="Nunito"/>
                <a:ea typeface="Nunito"/>
                <a:cs typeface="Nunito"/>
                <a:sym typeface="Nunito"/>
              </a:rPr>
              <a:t>2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-n-(n</a:t>
            </a:r>
            <a:r>
              <a:rPr baseline="30000" lang="pt-BR" sz="1700">
                <a:latin typeface="Nunito"/>
                <a:ea typeface="Nunito"/>
                <a:cs typeface="Nunito"/>
                <a:sym typeface="Nunito"/>
              </a:rPr>
              <a:t>2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-3n+2)/2 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T(n) = (n</a:t>
            </a:r>
            <a:r>
              <a:rPr baseline="30000" lang="pt-BR" sz="1700">
                <a:latin typeface="Nunito"/>
                <a:ea typeface="Nunito"/>
                <a:cs typeface="Nunito"/>
                <a:sym typeface="Nunito"/>
              </a:rPr>
              <a:t>2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+n-2)/2 = ½(n</a:t>
            </a:r>
            <a:r>
              <a:rPr baseline="30000" lang="pt-BR" sz="1700">
                <a:latin typeface="Nunito"/>
                <a:ea typeface="Nunito"/>
                <a:cs typeface="Nunito"/>
                <a:sym typeface="Nunito"/>
              </a:rPr>
              <a:t>2</a:t>
            </a:r>
            <a:r>
              <a:rPr lang="pt-BR" sz="1700">
                <a:latin typeface="Nunito"/>
                <a:ea typeface="Nunito"/>
                <a:cs typeface="Nunito"/>
                <a:sym typeface="Nunito"/>
              </a:rPr>
              <a:t>+n-2)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aseline="300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aseline="300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97" name="Google Shape;297;p16"/>
          <p:cNvSpPr txBox="1"/>
          <p:nvPr/>
        </p:nvSpPr>
        <p:spPr>
          <a:xfrm>
            <a:off x="381725" y="100450"/>
            <a:ext cx="6871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rPr>
              <a:t>Cálculo de Custo</a:t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